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🚀 CI/CD Pipeline &amp; Git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AA"/>
                </a:solidFill>
              </a:defRPr>
            </a:pPr>
            <a:r>
              <a:t>Logimax Retail - Developer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📋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Understanding 4 Deployment Environments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Feature Branch Workflow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Real-World Example: 5 Commits Journey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Commit Guidelines &amp;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CI/CD Pipeline Flow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Promoting Code to Production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Symlink Deployment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CI/CD Dashboard &amp; 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🌍 4 Deployment Environments (Source Version)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2011680" cy="1828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1500" b="1">
                <a:solidFill>
                  <a:srgbClr val="FFFFFF"/>
                </a:solidFill>
              </a:defRPr>
            </a:pPr>
            <a:r>
              <a:t>🔧 DEVELOP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Dev Team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📁 test_etail_v3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🔀 Retail_1.1.1.0001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50592" y="822960"/>
            <a:ext cx="2011680" cy="18288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1500" b="1">
                <a:solidFill>
                  <a:srgbClr val="FFFFFF"/>
                </a:solidFill>
              </a:defRPr>
            </a:pPr>
            <a:r>
              <a:t>🧪 QA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Code &amp; Functional Testing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📁 QA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🔀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26864" y="822960"/>
            <a:ext cx="2011680" cy="1828800"/>
          </a:xfrm>
          <a:prstGeom prst="roundRect">
            <a:avLst/>
          </a:prstGeom>
          <a:solidFill>
            <a:srgbClr val="96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1500" b="1">
                <a:solidFill>
                  <a:srgbClr val="FFFFFF"/>
                </a:solidFill>
              </a:defRPr>
            </a:pPr>
            <a:r>
              <a:t>🔧 SUPPORT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Client-based Testing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📁 Support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🔀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03136" y="822960"/>
            <a:ext cx="2011680" cy="18288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1500" b="1">
                <a:solidFill>
                  <a:srgbClr val="FFFFFF"/>
                </a:solidFill>
              </a:defRPr>
            </a:pPr>
            <a:r>
              <a:t>🚀 PRODUCTION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Demo, Training &amp; New Clients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📁 etail_v3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🔀 Production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30552" y="2788920"/>
            <a:ext cx="365760" cy="2286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4306824" y="2788920"/>
            <a:ext cx="365760" cy="2286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6483096" y="2788920"/>
            <a:ext cx="365760" cy="2286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200400"/>
            <a:ext cx="8595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� Team Responsibilities: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DEVELOP: Development team builds &amp; tests new features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QA: QA team performs code review &amp; functional testing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SUPPORT: Support &amp; Implementation team does client-based testing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PRODUCTION: Stable code for demos, training &amp; new client deployments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🔀 Feature Branch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1️⃣  Create Feature Branch</a:t>
            </a:r>
          </a:p>
          <a:p>
            <a:pPr>
              <a:spcAft>
                <a:spcPts val="600"/>
              </a:spcAft>
              <a:defRPr sz="1400">
                <a:solidFill>
                  <a:srgbClr val="9696A0"/>
                </a:solidFill>
              </a:defRPr>
            </a:pPr>
            <a:r>
              <a:t>      git checkout -b feature/new-billing-module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2️⃣  Make Changes &amp; Commit</a:t>
            </a:r>
          </a:p>
          <a:p>
            <a:pPr>
              <a:spcAft>
                <a:spcPts val="600"/>
              </a:spcAft>
              <a:defRPr sz="1400">
                <a:solidFill>
                  <a:srgbClr val="9696A0"/>
                </a:solidFill>
              </a:defRPr>
            </a:pPr>
            <a:r>
              <a:t>      git add . &amp;&amp; git commit -m 'Add billing feature'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3️⃣  Push to Remote</a:t>
            </a:r>
          </a:p>
          <a:p>
            <a:pPr>
              <a:spcAft>
                <a:spcPts val="600"/>
              </a:spcAft>
              <a:defRPr sz="1400">
                <a:solidFill>
                  <a:srgbClr val="9696A0"/>
                </a:solidFill>
              </a:defRPr>
            </a:pPr>
            <a:r>
              <a:t>      git push origin feature/new-billing-module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4️⃣  Create Pull Request</a:t>
            </a:r>
          </a:p>
          <a:p>
            <a:pPr>
              <a:spcAft>
                <a:spcPts val="600"/>
              </a:spcAft>
              <a:defRPr sz="1400">
                <a:solidFill>
                  <a:srgbClr val="9696A0"/>
                </a:solidFill>
              </a:defRPr>
            </a:pPr>
            <a:r>
              <a:t>      GitHub → New PR → Retail_1.1.1.0001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5️⃣  Code Review &amp; Merge</a:t>
            </a:r>
          </a:p>
          <a:p>
            <a:pPr>
              <a:spcAft>
                <a:spcPts val="600"/>
              </a:spcAft>
              <a:defRPr sz="1400">
                <a:solidFill>
                  <a:srgbClr val="9696A0"/>
                </a:solidFill>
              </a:defRPr>
            </a:pPr>
            <a:r>
              <a:t>      Reviewer approves → Merge to develop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6️⃣  Auto Deploy to Develop</a:t>
            </a:r>
          </a:p>
          <a:p>
            <a:pPr>
              <a:spcAft>
                <a:spcPts val="600"/>
              </a:spcAft>
              <a:defRPr sz="1400">
                <a:solidFill>
                  <a:srgbClr val="9696A0"/>
                </a:solidFill>
              </a:defRPr>
            </a:pPr>
            <a:r>
              <a:t>      Webhook triggers → test_etail_v3 updated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📝 Branch Naming Conventions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00D4AA"/>
                </a:solidFill>
              </a:defRPr>
            </a:pPr>
            <a:r>
              <a:t>• feature/description → New features (feature/add-gst-report)</a:t>
            </a:r>
          </a:p>
          <a:p>
            <a:pPr>
              <a:spcAft>
                <a:spcPts val="1200"/>
              </a:spcAft>
              <a:defRPr sz="2200">
                <a:solidFill>
                  <a:srgbClr val="00D4AA"/>
                </a:solidFill>
              </a:defRPr>
            </a:pPr>
            <a:r>
              <a:t>• bugfix/description → Bug fixes (bugfix/fix-login-error)</a:t>
            </a:r>
          </a:p>
          <a:p>
            <a:pPr>
              <a:spcAft>
                <a:spcPts val="1200"/>
              </a:spcAft>
              <a:defRPr sz="2200">
                <a:solidFill>
                  <a:srgbClr val="00D4AA"/>
                </a:solidFill>
              </a:defRPr>
            </a:pPr>
            <a:r>
              <a:t>• hotfix/description → Urgent production fixes</a:t>
            </a:r>
          </a:p>
          <a:p>
            <a:pPr>
              <a:spcAft>
                <a:spcPts val="1200"/>
              </a:spcAft>
              <a:defRPr sz="2200">
                <a:solidFill>
                  <a:srgbClr val="00D4AA"/>
                </a:solidFill>
              </a:defRPr>
            </a:pPr>
            <a:r>
              <a:t>• release/version → Release preparation (release/v1.2.0)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Always use lowercase with hyphens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Keep names short but descriptive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💬 Commit Message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Use present tense: 'Add feature' not 'Added feature'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First line: brief summary (50 chars max)</a:t>
            </a:r>
          </a:p>
          <a:p>
            <a:pPr>
              <a:spcAft>
                <a:spcPts val="1200"/>
              </a:spcAft>
              <a:defRPr sz="2200">
                <a:solidFill>
                  <a:srgbClr val="00D4AA"/>
                </a:solidFill>
              </a:defRPr>
            </a:pPr>
            <a:r>
              <a:t>• Format: type(scope): description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Types: feat, fix, docs, style, refactor, test</a:t>
            </a:r>
          </a:p>
          <a:p>
            <a:pPr>
              <a:spcAft>
                <a:spcPts val="1200"/>
              </a:spcAft>
              <a:defRPr sz="2200">
                <a:solidFill>
                  <a:srgbClr val="00D4AA"/>
                </a:solidFill>
              </a:defRPr>
            </a:pPr>
            <a:r>
              <a:t>• Example: feat(billing): add GST calculation module</a:t>
            </a:r>
          </a:p>
          <a:p>
            <a:pPr>
              <a:spcAft>
                <a:spcPts val="1200"/>
              </a:spcAft>
              <a:defRPr sz="2200">
                <a:solidFill>
                  <a:srgbClr val="00D4AA"/>
                </a:solidFill>
              </a:defRPr>
            </a:pPr>
            <a:r>
              <a:t>• Example: fix(auth): resolve session timeout issue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📚 Real-World Example: 5 Commits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00D4AA"/>
                </a:solidFill>
              </a:defRPr>
            </a:pPr>
            <a:r>
              <a:t>• Real-world scenario: Adding GST Report Feature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Developer: Priya (Junior Developer)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Reviewer: Ravi (Senior Developer)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5 commits showing the complete journey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Includes: success, rejection, rework, and merge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4AA"/>
                </a:solidFill>
              </a:defRPr>
            </a:pPr>
            <a:r>
              <a:t>📝 Commit 1: Create Feature Branch &amp; Initial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👩‍💻 Priya starts the task</a:t>
            </a:r>
          </a:p>
          <a:p>
            <a:pPr>
              <a:defRPr sz="1300">
                <a:solidFill>
                  <a:srgbClr val="9696A0"/>
                </a:solidFill>
                <a:latin typeface="Consolas"/>
              </a:defRPr>
            </a:pPr>
            <a:r>
              <a:t>    git checkout Retail_1.1.1.0001</a:t>
            </a:r>
          </a:p>
          <a:p>
            <a:pPr>
              <a:defRPr sz="1300">
                <a:solidFill>
                  <a:srgbClr val="9696A0"/>
                </a:solidFill>
                <a:latin typeface="Consolas"/>
              </a:defRPr>
            </a:pPr>
            <a:r>
              <a:t>    git pull origin Retail_1.1.1.0001</a:t>
            </a:r>
          </a:p>
          <a:p>
            <a:pPr>
              <a:defRPr sz="1300">
                <a:solidFill>
                  <a:srgbClr val="9696A0"/>
                </a:solidFill>
                <a:latin typeface="Consolas"/>
              </a:defRPr>
            </a:pPr>
            <a:r>
              <a:t>    git checkout -b feature/gst-report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📝 Makes initial changes &amp; commits</a:t>
            </a:r>
          </a:p>
          <a:p>
            <a:pPr>
              <a:defRPr sz="1300">
                <a:solidFill>
                  <a:srgbClr val="9696A0"/>
                </a:solidFill>
                <a:latin typeface="Consolas"/>
              </a:defRPr>
            </a:pPr>
            <a:r>
              <a:t>    # Edit files: gst_report.php, report_model.php</a:t>
            </a:r>
          </a:p>
          <a:p>
            <a:pPr>
              <a:defRPr sz="1300">
                <a:solidFill>
                  <a:srgbClr val="9696A0"/>
                </a:solidFill>
                <a:latin typeface="Consolas"/>
              </a:defRPr>
            </a:pPr>
            <a:r>
              <a:t>    git add .</a:t>
            </a:r>
          </a:p>
          <a:p>
            <a:pPr>
              <a:defRPr sz="1300">
                <a:solidFill>
                  <a:srgbClr val="00D4AA"/>
                </a:solidFill>
                <a:latin typeface="Consolas"/>
              </a:defRPr>
            </a:pPr>
            <a:r>
              <a:t>    git commit -m 'feat(reports): add basic GST report structure'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🚀 Pushes to remote</a:t>
            </a:r>
          </a:p>
          <a:p>
            <a:pPr>
              <a:defRPr sz="1300">
                <a:solidFill>
                  <a:srgbClr val="9696A0"/>
                </a:solidFill>
                <a:latin typeface="Consolas"/>
              </a:defRPr>
            </a:pPr>
            <a:r>
              <a:t>    git push origin feature/gst-report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4114800"/>
            <a:ext cx="256032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📋 Status: In Progress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4AA"/>
                </a:solidFill>
              </a:defRPr>
            </a:pPr>
            <a:r>
              <a:t>📝 Commit 2: Create Pull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 b="1">
                <a:solidFill>
                  <a:srgbClr val="FFFFFF"/>
                </a:solidFill>
              </a:defRPr>
            </a:pPr>
            <a:r>
              <a:t>👩‍💻 Priya creates a Pull Request on GitHub</a:t>
            </a:r>
          </a:p>
          <a:p>
            <a:pPr>
              <a:defRPr sz="1300">
                <a:solidFill>
                  <a:srgbClr val="9696A0"/>
                </a:solidFill>
              </a:defRPr>
            </a:pPr>
            <a:r>
              <a:t>    • Go to: github.com/Logimax-Technologies/etail_development_src</a:t>
            </a:r>
          </a:p>
          <a:p>
            <a:pPr>
              <a:defRPr sz="1300">
                <a:solidFill>
                  <a:srgbClr val="9696A0"/>
                </a:solidFill>
              </a:defRPr>
            </a:pPr>
            <a:r>
              <a:t>    • Click 'Compare &amp; pull request'</a:t>
            </a:r>
          </a:p>
          <a:p>
            <a:pPr>
              <a:defRPr sz="1300">
                <a:solidFill>
                  <a:srgbClr val="9696A0"/>
                </a:solidFill>
              </a:defRPr>
            </a:pPr>
            <a:r>
              <a:t>    • Base: Retail_1.1.1.0001 ← Compare: feature/gst-report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  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📋 PR Details:</a:t>
            </a:r>
          </a:p>
          <a:p>
            <a:pPr>
              <a:defRPr sz="1300">
                <a:solidFill>
                  <a:srgbClr val="00D4AA"/>
                </a:solidFill>
              </a:defRPr>
            </a:pPr>
            <a:r>
              <a:t>    Title: feat(reports): Add GST Report Module</a:t>
            </a:r>
          </a:p>
          <a:p>
            <a:pPr>
              <a:defRPr sz="1300">
                <a:solidFill>
                  <a:srgbClr val="9696A0"/>
                </a:solidFill>
              </a:defRPr>
            </a:pPr>
            <a:r>
              <a:t>    Description:</a:t>
            </a:r>
          </a:p>
          <a:p>
            <a:pPr>
              <a:defRPr sz="1300">
                <a:solidFill>
                  <a:srgbClr val="9696A0"/>
                </a:solidFill>
              </a:defRPr>
            </a:pPr>
            <a:r>
              <a:t>      - Added new GST report generation</a:t>
            </a:r>
          </a:p>
          <a:p>
            <a:pPr>
              <a:defRPr sz="1300">
                <a:solidFill>
                  <a:srgbClr val="9696A0"/>
                </a:solidFill>
              </a:defRPr>
            </a:pPr>
            <a:r>
              <a:t>      - Shows tax breakdown by category</a:t>
            </a:r>
          </a:p>
          <a:p>
            <a:pPr>
              <a:defRPr sz="1300">
                <a:solidFill>
                  <a:srgbClr val="9696A0"/>
                </a:solidFill>
              </a:defRPr>
            </a:pPr>
            <a:r>
              <a:t>      - Includes date range filter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  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👨‍💼 Assigns Ravi as reviewer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4114800"/>
            <a:ext cx="2560320" cy="7315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⏳ Status: Pending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F4444"/>
                </a:solidFill>
              </a:defRPr>
            </a:pPr>
            <a:r>
              <a:t>❌ Commit 3: PR Rejected - Changes Requested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 b="1">
                <a:solidFill>
                  <a:srgbClr val="FFFFFF"/>
                </a:solidFill>
              </a:defRPr>
            </a:pPr>
            <a:r>
              <a:t>👨‍💼 Ravi reviews and requests changes: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  </a:t>
            </a:r>
          </a:p>
          <a:p>
            <a:pPr>
              <a:defRPr sz="1500" b="1">
                <a:solidFill>
                  <a:srgbClr val="F97316"/>
                </a:solidFill>
              </a:defRPr>
            </a:pPr>
            <a:r>
              <a:t>💬 Review Comments:</a:t>
            </a:r>
          </a:p>
          <a:p>
            <a:pPr>
              <a:defRPr sz="1300">
                <a:solidFill>
                  <a:srgbClr val="9696A0"/>
                </a:solidFill>
              </a:defRPr>
            </a:pPr>
            <a:r>
              <a:t>    1. 'Missing input validation on date range'</a:t>
            </a:r>
          </a:p>
          <a:p>
            <a:pPr>
              <a:defRPr sz="1300">
                <a:solidFill>
                  <a:srgbClr val="9696A0"/>
                </a:solidFill>
              </a:defRPr>
            </a:pPr>
            <a:r>
              <a:t>    2. 'SQL query vulnerable to injection - use parameterized queries'</a:t>
            </a:r>
          </a:p>
          <a:p>
            <a:pPr>
              <a:defRPr sz="1300">
                <a:solidFill>
                  <a:srgbClr val="9696A0"/>
                </a:solidFill>
              </a:defRPr>
            </a:pPr>
            <a:r>
              <a:t>    3. 'Add pagination for large datasets'</a:t>
            </a:r>
          </a:p>
          <a:p>
            <a:pPr>
              <a:defRPr sz="1300">
                <a:solidFill>
                  <a:srgbClr val="9696A0"/>
                </a:solidFill>
              </a:defRPr>
            </a:pPr>
            <a:r>
              <a:t>    4. 'Follow naming convention: getGstReport() not get_gst_report()'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  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📋 Ravi's feedback:</a:t>
            </a:r>
          </a:p>
          <a:p>
            <a:pPr>
              <a:defRPr sz="1300">
                <a:solidFill>
                  <a:srgbClr val="00D4AA"/>
                </a:solidFill>
              </a:defRPr>
            </a:pPr>
            <a:r>
              <a:t>    'Good start! Fix these issues and request re-review.'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  </a:t>
            </a:r>
          </a:p>
          <a:p>
            <a:pPr>
              <a:defRPr sz="1500" b="1">
                <a:solidFill>
                  <a:srgbClr val="EF4444"/>
                </a:solidFill>
              </a:defRPr>
            </a:pPr>
            <a:r>
              <a:t>⚠️ PR Status: Changes Requested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4114800"/>
            <a:ext cx="2560320" cy="7315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❌ Status: Rejected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97316"/>
                </a:solidFill>
              </a:defRPr>
            </a:pPr>
            <a:r>
              <a:t>🔧 Commit 4: Rework - Fix All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👩‍💻 Priya addresses all feedback: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✅ Fix 1: Add input validation</a:t>
            </a:r>
          </a:p>
          <a:p>
            <a:pPr>
              <a:defRPr sz="1200">
                <a:solidFill>
                  <a:srgbClr val="9696A0"/>
                </a:solidFill>
                <a:latin typeface="Consolas"/>
              </a:defRPr>
            </a:pPr>
            <a:r>
              <a:t>    git commit -m 'fix(reports): add date range validation'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✅ Fix 2: Use parameterized queries</a:t>
            </a:r>
          </a:p>
          <a:p>
            <a:pPr>
              <a:defRPr sz="1200">
                <a:solidFill>
                  <a:srgbClr val="9696A0"/>
                </a:solidFill>
                <a:latin typeface="Consolas"/>
              </a:defRPr>
            </a:pPr>
            <a:r>
              <a:t>    git commit -m 'fix(reports): use prepared statements for SQL'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✅ Fix 3: Add pagination</a:t>
            </a:r>
          </a:p>
          <a:p>
            <a:pPr>
              <a:defRPr sz="1200">
                <a:solidFill>
                  <a:srgbClr val="9696A0"/>
                </a:solidFill>
                <a:latin typeface="Consolas"/>
              </a:defRPr>
            </a:pPr>
            <a:r>
              <a:t>    git commit -m 'feat(reports): add pagination for GST report'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✅ Fix 4: Fix naming convention</a:t>
            </a:r>
          </a:p>
          <a:p>
            <a:pPr>
              <a:defRPr sz="1200">
                <a:solidFill>
                  <a:srgbClr val="9696A0"/>
                </a:solidFill>
                <a:latin typeface="Consolas"/>
              </a:defRPr>
            </a:pPr>
            <a:r>
              <a:t>    git commit -m 'refactor(reports): rename to camelCase methods'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🚀 Push all fixes</a:t>
            </a:r>
          </a:p>
          <a:p>
            <a:pPr>
              <a:defRPr sz="1200">
                <a:solidFill>
                  <a:srgbClr val="00D4AA"/>
                </a:solidFill>
                <a:latin typeface="Consolas"/>
              </a:defRPr>
            </a:pPr>
            <a:r>
              <a:t>    git push origin feature/gst-report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4114800"/>
            <a:ext cx="2560320" cy="7315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🔄 Status: Re-review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2C55E"/>
                </a:solidFill>
              </a:defRPr>
            </a:pPr>
            <a:r>
              <a:t>✅ Commit 5: Approved &amp; Merged to Develop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👨‍💼 Ravi approves the PR:</a:t>
            </a:r>
          </a:p>
          <a:p>
            <a:pPr>
              <a:defRPr sz="1200">
                <a:solidFill>
                  <a:srgbClr val="00D4AA"/>
                </a:solidFill>
              </a:defRPr>
            </a:pPr>
            <a:r>
              <a:t>  'LGTM! All issues fixed. Approved.'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🔀 Merge to Retail_1.1.1.0001</a:t>
            </a:r>
          </a:p>
          <a:p>
            <a:pPr>
              <a:defRPr sz="1200">
                <a:solidFill>
                  <a:srgbClr val="9696A0"/>
                </a:solidFill>
              </a:defRPr>
            </a:pPr>
            <a:r>
              <a:t>  Click 'Merge Pull Request'</a:t>
            </a:r>
          </a:p>
          <a:p>
            <a:pPr>
              <a:defRPr sz="1200">
                <a:solidFill>
                  <a:srgbClr val="9696A0"/>
                </a:solidFill>
              </a:defRPr>
            </a:pPr>
            <a:r>
              <a:t>  Select 'Squash and merge'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⚡ Auto Deploy Triggered:</a:t>
            </a:r>
          </a:p>
          <a:p>
            <a:pPr>
              <a:defRPr sz="1200">
                <a:solidFill>
                  <a:srgbClr val="22C55E"/>
                </a:solidFill>
              </a:defRPr>
            </a:pPr>
            <a:r>
              <a:t>  ✓ Webhook received</a:t>
            </a:r>
          </a:p>
          <a:p>
            <a:pPr>
              <a:defRPr sz="1200">
                <a:solidFill>
                  <a:srgbClr val="22C55E"/>
                </a:solidFill>
              </a:defRPr>
            </a:pPr>
            <a:r>
              <a:t>  ✓ Deploy to test_etail_v3</a:t>
            </a:r>
          </a:p>
          <a:p>
            <a:pPr>
              <a:defRPr sz="1200">
                <a:solidFill>
                  <a:srgbClr val="22C55E"/>
                </a:solidFill>
              </a:defRPr>
            </a:pPr>
            <a:r>
              <a:t>  ✓ Email notification sent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🧹 Cleanup:</a:t>
            </a:r>
          </a:p>
          <a:p>
            <a:pPr>
              <a:defRPr sz="1200">
                <a:solidFill>
                  <a:srgbClr val="9696A0"/>
                </a:solidFill>
              </a:defRPr>
            </a:pPr>
            <a:r>
              <a:t>  git checkout Retail_1.1.1.0001</a:t>
            </a:r>
          </a:p>
          <a:p>
            <a:pPr>
              <a:defRPr sz="1200">
                <a:solidFill>
                  <a:srgbClr val="9696A0"/>
                </a:solidFill>
              </a:defRPr>
            </a:pPr>
            <a:r>
              <a:t>  git pull origin Retail_1.1.1.0001</a:t>
            </a:r>
          </a:p>
          <a:p>
            <a:pPr>
              <a:defRPr sz="1200">
                <a:solidFill>
                  <a:srgbClr val="9696A0"/>
                </a:solidFill>
              </a:defRPr>
            </a:pPr>
            <a:r>
              <a:t>  git branch -d feature/gst-report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82296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📊 Deployment Path</a:t>
            </a:r>
          </a:p>
          <a:p>
            <a:pPr>
              <a:spcBef>
                <a:spcPts val="1000"/>
              </a:spcBef>
              <a:defRPr sz="1400" b="1">
                <a:solidFill>
                  <a:srgbClr val="22C55E"/>
                </a:solidFill>
              </a:defRPr>
            </a:pPr>
            <a:r>
              <a:t>1. Develop</a:t>
            </a:r>
          </a:p>
          <a:p>
            <a:pPr>
              <a:defRPr sz="1200">
                <a:solidFill>
                  <a:srgbClr val="9696A0"/>
                </a:solidFill>
              </a:defRPr>
            </a:pPr>
            <a:r>
              <a:t>   → test_etail_v3 ✓</a:t>
            </a:r>
          </a:p>
          <a:p>
            <a:pPr>
              <a:spcBef>
                <a:spcPts val="1000"/>
              </a:spcBef>
              <a:defRPr sz="1400" b="1">
                <a:solidFill>
                  <a:srgbClr val="F97316"/>
                </a:solidFill>
              </a:defRPr>
            </a:pPr>
            <a:r>
              <a:t>2. QA Testing</a:t>
            </a:r>
          </a:p>
          <a:p>
            <a:pPr>
              <a:defRPr sz="1200">
                <a:solidFill>
                  <a:srgbClr val="9696A0"/>
                </a:solidFill>
              </a:defRPr>
            </a:pPr>
            <a:r>
              <a:t>   → QA branch (next)</a:t>
            </a:r>
          </a:p>
          <a:p>
            <a:pPr>
              <a:spcBef>
                <a:spcPts val="1000"/>
              </a:spcBef>
              <a:defRPr sz="1400" b="1">
                <a:solidFill>
                  <a:srgbClr val="9696A0"/>
                </a:solidFill>
              </a:defRPr>
            </a:pPr>
            <a:r>
              <a:t>3. Support</a:t>
            </a:r>
          </a:p>
          <a:p>
            <a:pPr>
              <a:defRPr sz="1200">
                <a:solidFill>
                  <a:srgbClr val="9696A0"/>
                </a:solidFill>
              </a:defRPr>
            </a:pPr>
            <a:r>
              <a:t>   → support branch</a:t>
            </a:r>
          </a:p>
          <a:p>
            <a:pPr>
              <a:spcBef>
                <a:spcPts val="1000"/>
              </a:spcBef>
              <a:defRPr sz="1400" b="1">
                <a:solidFill>
                  <a:srgbClr val="3B82F6"/>
                </a:solidFill>
              </a:defRPr>
            </a:pPr>
            <a:r>
              <a:t>4. Production</a:t>
            </a:r>
          </a:p>
          <a:p>
            <a:pPr>
              <a:defRPr sz="1200">
                <a:solidFill>
                  <a:srgbClr val="9696A0"/>
                </a:solidFill>
              </a:defRPr>
            </a:pPr>
            <a:r>
              <a:t>   → Production 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114800"/>
            <a:ext cx="256032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Status: Deployed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🚀 Promoting Code to Production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82880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DEVELOP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Dev Team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Feature development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31720" y="1508760"/>
            <a:ext cx="320040" cy="18288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51760" y="914400"/>
            <a:ext cx="1828800" cy="13716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QA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Code &amp; Functional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26280" y="1508760"/>
            <a:ext cx="320040" cy="18288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0" y="914400"/>
            <a:ext cx="1828800" cy="1371600"/>
          </a:xfrm>
          <a:prstGeom prst="roundRect">
            <a:avLst/>
          </a:prstGeom>
          <a:solidFill>
            <a:srgbClr val="96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SUPPORT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Client-based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720840" y="1508760"/>
            <a:ext cx="320040" cy="18288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79" y="914400"/>
            <a:ext cx="1828800" cy="1371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PRODUCTION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Stable: Demo,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Training, New 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🔀 Promotion Commands: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Develop → QA:</a:t>
            </a:r>
          </a:p>
          <a:p>
            <a:pPr>
              <a:defRPr sz="1200">
                <a:solidFill>
                  <a:srgbClr val="9696A0"/>
                </a:solidFill>
                <a:latin typeface="Consolas"/>
              </a:defRPr>
            </a:pPr>
            <a:r>
              <a:t>  git checkout QA &amp;&amp; git merge Retail_1.1.1.0001 &amp;&amp; git push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QA → Support:</a:t>
            </a:r>
          </a:p>
          <a:p>
            <a:pPr>
              <a:defRPr sz="1200">
                <a:solidFill>
                  <a:srgbClr val="9696A0"/>
                </a:solidFill>
                <a:latin typeface="Consolas"/>
              </a:defRPr>
            </a:pPr>
            <a:r>
              <a:t>  git checkout support &amp;&amp; git merge QA &amp;&amp; git push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Support → Production:</a:t>
            </a:r>
          </a:p>
          <a:p>
            <a:pPr>
              <a:defRPr sz="1200">
                <a:solidFill>
                  <a:srgbClr val="9696A0"/>
                </a:solidFill>
                <a:latin typeface="Consolas"/>
              </a:defRPr>
            </a:pPr>
            <a:r>
              <a:t>  git checkout Production &amp;&amp; git merge support &amp;&amp; git push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📋 Workflow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1️⃣  Create feature branch from Retail_1.1.1.0001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2️⃣  Make commits with proper messages (feat, fix, refactor)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3️⃣  Push and create Pull Request</a:t>
            </a:r>
          </a:p>
          <a:p>
            <a:pPr>
              <a:spcAft>
                <a:spcPts val="600"/>
              </a:spcAft>
              <a:defRPr sz="1600">
                <a:solidFill>
                  <a:srgbClr val="F97316"/>
                </a:solidFill>
              </a:defRPr>
            </a:pPr>
            <a:r>
              <a:t>4️⃣  Address reviewer feedback (may need multiple iterations)</a:t>
            </a:r>
          </a:p>
          <a:p>
            <a:pPr>
              <a:spcAft>
                <a:spcPts val="600"/>
              </a:spcAft>
              <a:defRPr sz="1600">
                <a:solidFill>
                  <a:srgbClr val="22C55E"/>
                </a:solidFill>
              </a:defRPr>
            </a:pPr>
            <a:r>
              <a:t>5️⃣  Once approved, merge to Retail_1.1.1.0001</a:t>
            </a:r>
          </a:p>
          <a:p>
            <a:pPr>
              <a:spcAft>
                <a:spcPts val="600"/>
              </a:spcAft>
              <a:defRPr sz="1600">
                <a:solidFill>
                  <a:srgbClr val="3B82F6"/>
                </a:solidFill>
              </a:defRPr>
            </a:pPr>
            <a:r>
              <a:t>6️⃣  Auto-deploy to test_etail_v3 (Develop)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7️⃣  After QA testing, promote to QA branch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8️⃣  Client approval, promote to Support</a:t>
            </a:r>
          </a:p>
          <a:p>
            <a:pPr>
              <a:spcAft>
                <a:spcPts val="600"/>
              </a:spcAft>
              <a:defRPr sz="1600">
                <a:solidFill>
                  <a:srgbClr val="22C55E"/>
                </a:solidFill>
              </a:defRPr>
            </a:pPr>
            <a:r>
              <a:t>9️⃣  Release to Production (symlink deployment)</a:t>
            </a:r>
          </a:p>
          <a:p>
            <a:pPr>
              <a:spcAft>
                <a:spcPts val="600"/>
              </a:spcAft>
              <a:defRPr sz="1600">
                <a:solidFill>
                  <a:srgbClr val="9696A0"/>
                </a:solidFill>
              </a:defRPr>
            </a:pPr>
            <a:r>
              <a:t>🔟  Delete feature branch after merge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⚙️ CI/CD Pipeline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371600" cy="10972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defRPr sz="1400" b="1">
                <a:solidFill>
                  <a:srgbClr val="FFFFFF"/>
                </a:solidFill>
              </a:defRPr>
            </a:pPr>
            <a:r>
              <a:t>👨‍💻 Developer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Push code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91640" y="1828800"/>
            <a:ext cx="228600" cy="18288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371600"/>
            <a:ext cx="1371600" cy="1097280"/>
          </a:xfrm>
          <a:prstGeom prst="roundRect">
            <a:avLst/>
          </a:prstGeom>
          <a:solidFill>
            <a:srgbClr val="96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defRPr sz="1400" b="1">
                <a:solidFill>
                  <a:srgbClr val="FFFFFF"/>
                </a:solidFill>
              </a:defRPr>
            </a:pPr>
            <a:r>
              <a:t>🐙 GitHub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Trigger workflow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337560" y="1828800"/>
            <a:ext cx="228600" cy="18288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1371600" cy="10972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defRPr sz="1400" b="1">
                <a:solidFill>
                  <a:srgbClr val="FFFFFF"/>
                </a:solidFill>
              </a:defRPr>
            </a:pPr>
            <a:r>
              <a:t>📡 Webhook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Notify server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83480" y="1828800"/>
            <a:ext cx="228600" cy="18288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1371600"/>
            <a:ext cx="1371600" cy="10972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defRPr sz="1400" b="1">
                <a:solidFill>
                  <a:srgbClr val="FFFFFF"/>
                </a:solidFill>
              </a:defRPr>
            </a:pPr>
            <a:r>
              <a:t>🖥️ Server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Deploy code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29400" y="1828800"/>
            <a:ext cx="228600" cy="18288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0"/>
            <a:ext cx="1371600" cy="109728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defRPr sz="1400" b="1">
                <a:solidFill>
                  <a:srgbClr val="FFFFFF"/>
                </a:solidFill>
              </a:defRPr>
            </a:pPr>
            <a:r>
              <a:t>📧 Notify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Send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Automatic deployment on push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Environment-specific configuration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Email notifications on success/failure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Deployment history &amp; logging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✅ Zero-downtime production releases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🔗 Symlink Deployment (Production)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📁 Directory Structure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etail_v3/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├── admin → releases/current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├── releases/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│   ├── release_20260112/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│   ├── release_20260119/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│   └── current → release_20260119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└── shared/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    ├── database.php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    ├── .htaccess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    └── assets/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✨ Benefits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⚡ Zero-downtime deployment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↩️ Instant rollback capability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📦 Clean release isolation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🔄 Atomic switch via symlink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📂 Shared config &amp; assets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🖥️ CI/CD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📊 Real-time deployment status for all environments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📜 Complete deployment history with commit details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🔔 Client setup wizard for new projects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📈 Success/failure statistics</a:t>
            </a:r>
          </a:p>
          <a:p>
            <a:pPr>
              <a:spcAft>
                <a:spcPts val="1200"/>
              </a:spcAft>
              <a:defRPr sz="2200">
                <a:solidFill>
                  <a:srgbClr val="00D4AA"/>
                </a:solidFill>
              </a:defRPr>
            </a:pPr>
            <a:r>
              <a:t>• 🔗 URL: retail.logimaxindia.com/test_etail_v3/cicd/docs/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🚀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🗃️ SQL schema migration automation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🧪 Automated testing before deployment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📊 Performance monitoring integration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🔔 Slack/Teams notifications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🐳 Docker containerization (future)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☁️ Cloud deployment options (AWS/GCP)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📋 Quick Reference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Create feature branch</a:t>
            </a:r>
          </a:p>
          <a:p>
            <a:pPr>
              <a:defRPr sz="1400">
                <a:solidFill>
                  <a:srgbClr val="00D4AA"/>
                </a:solidFill>
                <a:latin typeface="Consolas"/>
              </a:defRPr>
            </a:pPr>
            <a:r>
              <a:t>  git checkout -b feature/your-feature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Switch branches</a:t>
            </a:r>
          </a:p>
          <a:p>
            <a:pPr>
              <a:defRPr sz="1400">
                <a:solidFill>
                  <a:srgbClr val="00D4AA"/>
                </a:solidFill>
                <a:latin typeface="Consolas"/>
              </a:defRPr>
            </a:pPr>
            <a:r>
              <a:t>  git checkout Retail_1.1.1.0001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Pull latest changes</a:t>
            </a:r>
          </a:p>
          <a:p>
            <a:pPr>
              <a:defRPr sz="1400">
                <a:solidFill>
                  <a:srgbClr val="00D4AA"/>
                </a:solidFill>
                <a:latin typeface="Consolas"/>
              </a:defRPr>
            </a:pPr>
            <a:r>
              <a:t>  git pull origin Retail_1.1.1.0001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Push your changes</a:t>
            </a:r>
          </a:p>
          <a:p>
            <a:pPr>
              <a:defRPr sz="1400">
                <a:solidFill>
                  <a:srgbClr val="00D4AA"/>
                </a:solidFill>
                <a:latin typeface="Consolas"/>
              </a:defRPr>
            </a:pPr>
            <a:r>
              <a:t>  git push origin feature/your-feature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Check status</a:t>
            </a:r>
          </a:p>
          <a:p>
            <a:pPr>
              <a:defRPr sz="1400">
                <a:solidFill>
                  <a:srgbClr val="00D4AA"/>
                </a:solidFill>
                <a:latin typeface="Consolas"/>
              </a:defRPr>
            </a:pPr>
            <a:r>
              <a:t>  git status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View commit history</a:t>
            </a:r>
          </a:p>
          <a:p>
            <a:pPr>
              <a:defRPr sz="1400">
                <a:solidFill>
                  <a:srgbClr val="00D4AA"/>
                </a:solidFill>
                <a:latin typeface="Consolas"/>
              </a:defRPr>
            </a:pPr>
            <a:r>
              <a:t>  git log --oneline -10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D4AA"/>
                </a:solidFill>
              </a:defRPr>
            </a:pPr>
            <a:r>
              <a:t>🙏 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A0"/>
                </a:solidFill>
              </a:defRPr>
            </a:pPr>
            <a:r>
              <a:t>CI/CD Dashboard: retail.logimaxindia.com/test_etail_v3/cicd/docs/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